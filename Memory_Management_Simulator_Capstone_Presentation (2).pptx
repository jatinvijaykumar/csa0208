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3" r:id="rId14"/>
    <p:sldId id="270" r:id="rId15"/>
    <p:sldId id="271" r:id="rId16"/>
    <p:sldId id="272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1051560"/>
            <a:ext cx="137160" cy="438912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179790"/>
            <a:ext cx="8355814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 dirty="0">
                <a:solidFill>
                  <a:srgbClr val="FFFFFF"/>
                </a:solidFill>
              </a:rPr>
              <a:t>Memory Management Simulator using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4754880"/>
            <a:ext cx="203119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Guided By:</a:t>
            </a:r>
          </a:p>
          <a:p>
            <a:r>
              <a:rPr lang="en-US" sz="1600" dirty="0">
                <a:solidFill>
                  <a:srgbClr val="FFFFFF"/>
                </a:solidFill>
              </a:rPr>
              <a:t>	Dr . V. Jayasudha</a:t>
            </a:r>
            <a:endParaRPr sz="1600" dirty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A1B711-D0D8-D08E-33FB-2BA8ED9848E6}"/>
              </a:ext>
            </a:extLst>
          </p:cNvPr>
          <p:cNvSpPr txBox="1"/>
          <p:nvPr/>
        </p:nvSpPr>
        <p:spPr>
          <a:xfrm>
            <a:off x="7747819" y="4754880"/>
            <a:ext cx="36084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Done BY:</a:t>
            </a:r>
          </a:p>
          <a:p>
            <a:r>
              <a:rPr lang="en-US" dirty="0">
                <a:solidFill>
                  <a:schemeClr val="bg1"/>
                </a:solidFill>
              </a:rPr>
              <a:t>Jatin Vijaykumar(192412047)</a:t>
            </a:r>
          </a:p>
          <a:p>
            <a:r>
              <a:rPr lang="en-US" dirty="0">
                <a:solidFill>
                  <a:schemeClr val="bg1"/>
                </a:solidFill>
              </a:rPr>
              <a:t>Nithesh . Y(192521305)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54249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rgbClr val="142341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2968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2000">
                <a:solidFill>
                  <a:srgbClr val="232830"/>
                </a:solidFill>
              </a:defRPr>
            </a:pPr>
            <a:r>
              <a:rPr dirty="0"/>
              <a:t>Memory management decides how available memory blocks are assigned to processes.</a:t>
            </a: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2000">
                <a:solidFill>
                  <a:srgbClr val="232830"/>
                </a:solidFill>
              </a:defRPr>
            </a:pPr>
            <a:r>
              <a:rPr dirty="0"/>
              <a:t>This project provides a simple C-based simulator for dynamic memory allocation.</a:t>
            </a: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2000">
                <a:solidFill>
                  <a:srgbClr val="232830"/>
                </a:solidFill>
              </a:defRPr>
            </a:pPr>
            <a:r>
              <a:rPr dirty="0"/>
              <a:t>The implemented allocation strategy is the First-Fit algorithm.</a:t>
            </a: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2000">
                <a:solidFill>
                  <a:srgbClr val="232830"/>
                </a:solidFill>
              </a:defRPr>
            </a:pPr>
            <a:r>
              <a:rPr dirty="0"/>
              <a:t>Users provide memory-block sizes and process sizes through command-line arguments.</a:t>
            </a: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2000">
                <a:solidFill>
                  <a:srgbClr val="232830"/>
                </a:solidFill>
              </a:defRPr>
            </a:pPr>
            <a:r>
              <a:rPr dirty="0"/>
              <a:t>The simulator displays which block receives each process and identifies unallocated processes.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5854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42341"/>
                </a:solidFill>
              </a:rPr>
              <a:t> </a:t>
            </a:r>
            <a:r>
              <a:rPr lang="en-IN" sz="2800" b="1" dirty="0">
                <a:solidFill>
                  <a:srgbClr val="142341"/>
                </a:solidFill>
              </a:rPr>
              <a:t>PROBLEM STATEMENT</a:t>
            </a:r>
            <a:endParaRPr sz="2800" b="1" dirty="0">
              <a:solidFill>
                <a:srgbClr val="14234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373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2000">
                <a:solidFill>
                  <a:srgbClr val="232830"/>
                </a:solidFill>
              </a:defRPr>
            </a:pPr>
            <a:r>
              <a:rPr dirty="0"/>
              <a:t>Manual calculation of memory allocation becomes difficult when several processes compete for limited blocks.</a:t>
            </a: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2000">
                <a:solidFill>
                  <a:srgbClr val="232830"/>
                </a:solidFill>
              </a:defRPr>
            </a:pPr>
            <a:r>
              <a:rPr dirty="0"/>
              <a:t>A simulator is required to demonstrate allocation decisions clearly and consistently.</a:t>
            </a: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2000">
                <a:solidFill>
                  <a:srgbClr val="232830"/>
                </a:solidFill>
              </a:defRPr>
            </a:pPr>
            <a:r>
              <a:rPr dirty="0"/>
              <a:t>The system should accept block/process data, apply an allocation rule, update remaining space, and report the result.</a:t>
            </a: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2000">
                <a:solidFill>
                  <a:srgbClr val="232830"/>
                </a:solidFill>
              </a:defRPr>
            </a:pPr>
            <a:r>
              <a:rPr dirty="0"/>
              <a:t>The project focuses on understanding the logic behind memory allocation rather than building an operating-system memory manager.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93610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rgbClr val="142341"/>
                </a:solidFill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3584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2000">
                <a:solidFill>
                  <a:srgbClr val="232830"/>
                </a:solidFill>
              </a:defRPr>
            </a:pPr>
            <a:r>
              <a:rPr dirty="0"/>
              <a:t>Implement a memory management simulator using standard C.</a:t>
            </a: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2000">
                <a:solidFill>
                  <a:srgbClr val="232830"/>
                </a:solidFill>
              </a:defRPr>
            </a:pPr>
            <a:r>
              <a:rPr dirty="0"/>
              <a:t>Accept multiple memory-block sizes and process sizes as input.</a:t>
            </a: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2000">
                <a:solidFill>
                  <a:srgbClr val="232830"/>
                </a:solidFill>
              </a:defRPr>
            </a:pPr>
            <a:r>
              <a:rPr dirty="0"/>
              <a:t>Parse comma-separated input values using string tokenization.</a:t>
            </a: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2000">
                <a:solidFill>
                  <a:srgbClr val="232830"/>
                </a:solidFill>
              </a:defRPr>
            </a:pPr>
            <a:r>
              <a:rPr dirty="0"/>
              <a:t>Implement First-Fit allocation using arrays and nested loops.</a:t>
            </a: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2000">
                <a:solidFill>
                  <a:srgbClr val="232830"/>
                </a:solidFill>
              </a:defRPr>
            </a:pPr>
            <a:r>
              <a:rPr dirty="0"/>
              <a:t>Update the remaining capacity of allocated memory blocks.</a:t>
            </a: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2000">
                <a:solidFill>
                  <a:srgbClr val="232830"/>
                </a:solidFill>
              </a:defRPr>
            </a:pPr>
            <a:r>
              <a:rPr dirty="0"/>
              <a:t>Display allocation status for every process.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58231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42341"/>
                </a:solidFill>
              </a:rPr>
              <a:t> </a:t>
            </a:r>
            <a:r>
              <a:rPr lang="en-IN" sz="2800" b="1" dirty="0">
                <a:solidFill>
                  <a:srgbClr val="142341"/>
                </a:solidFill>
              </a:rPr>
              <a:t>SYSTEM ARCHITECTURE / WORKING FLOW</a:t>
            </a:r>
            <a:endParaRPr sz="2800" b="1" dirty="0">
              <a:solidFill>
                <a:srgbClr val="14234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11480" y="2194560"/>
            <a:ext cx="1691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42341"/>
                </a:solidFill>
              </a:rPr>
              <a:t>Input Blocks</a:t>
            </a:r>
          </a:p>
          <a:p>
            <a:pPr algn="ctr"/>
            <a:r>
              <a:rPr sz="1000">
                <a:solidFill>
                  <a:srgbClr val="69707A"/>
                </a:solidFill>
              </a:rPr>
              <a:t>100,500,200...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03120" y="2852928"/>
            <a:ext cx="256032" cy="0"/>
          </a:xfrm>
          <a:prstGeom prst="line">
            <a:avLst/>
          </a:prstGeom>
          <a:ln w="25400">
            <a:solidFill>
              <a:srgbClr val="2D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359152" y="2194560"/>
            <a:ext cx="1691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42341"/>
                </a:solidFill>
              </a:rPr>
              <a:t>Input Processes</a:t>
            </a:r>
          </a:p>
          <a:p>
            <a:pPr algn="ctr"/>
            <a:r>
              <a:rPr sz="1000">
                <a:solidFill>
                  <a:srgbClr val="69707A"/>
                </a:solidFill>
              </a:rPr>
              <a:t>212,417,112...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50791" y="2852928"/>
            <a:ext cx="256033" cy="0"/>
          </a:xfrm>
          <a:prstGeom prst="line">
            <a:avLst/>
          </a:prstGeom>
          <a:ln w="25400">
            <a:solidFill>
              <a:srgbClr val="2D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06824" y="2194560"/>
            <a:ext cx="1691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42341"/>
                </a:solidFill>
              </a:rPr>
              <a:t>Parse Tokens</a:t>
            </a:r>
          </a:p>
          <a:p>
            <a:pPr algn="ctr"/>
            <a:r>
              <a:rPr sz="1000">
                <a:solidFill>
                  <a:srgbClr val="69707A"/>
                </a:solidFill>
              </a:rPr>
              <a:t>strtok() + atoi()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98464" y="2852928"/>
            <a:ext cx="256032" cy="0"/>
          </a:xfrm>
          <a:prstGeom prst="line">
            <a:avLst/>
          </a:prstGeom>
          <a:ln w="25400">
            <a:solidFill>
              <a:srgbClr val="2D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54496" y="2194560"/>
            <a:ext cx="1691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42341"/>
                </a:solidFill>
              </a:rPr>
              <a:t>First-Fit Engine</a:t>
            </a:r>
          </a:p>
          <a:p>
            <a:pPr algn="ctr"/>
            <a:r>
              <a:rPr sz="1000">
                <a:solidFill>
                  <a:srgbClr val="69707A"/>
                </a:solidFill>
              </a:rPr>
              <a:t>Search first suitable block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46136" y="2852928"/>
            <a:ext cx="256031" cy="0"/>
          </a:xfrm>
          <a:prstGeom prst="line">
            <a:avLst/>
          </a:prstGeom>
          <a:ln w="25400">
            <a:solidFill>
              <a:srgbClr val="2D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02167" y="2194560"/>
            <a:ext cx="1691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42341"/>
                </a:solidFill>
              </a:rPr>
              <a:t>Update Block</a:t>
            </a:r>
          </a:p>
          <a:p>
            <a:pPr algn="ctr"/>
            <a:r>
              <a:rPr sz="1000">
                <a:solidFill>
                  <a:srgbClr val="69707A"/>
                </a:solidFill>
              </a:rPr>
              <a:t>Remaining capacity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893807" y="2852928"/>
            <a:ext cx="256032" cy="0"/>
          </a:xfrm>
          <a:prstGeom prst="line">
            <a:avLst/>
          </a:prstGeom>
          <a:ln w="25400">
            <a:solidFill>
              <a:srgbClr val="2D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149839" y="2194560"/>
            <a:ext cx="1691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42341"/>
                </a:solidFill>
              </a:rPr>
              <a:t>Output</a:t>
            </a:r>
          </a:p>
          <a:p>
            <a:pPr algn="ctr"/>
            <a:r>
              <a:rPr sz="1000">
                <a:solidFill>
                  <a:srgbClr val="69707A"/>
                </a:solidFill>
              </a:rPr>
              <a:t>Allocated / Not Allocated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967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42341"/>
                </a:solidFill>
              </a:rPr>
              <a:t> </a:t>
            </a:r>
            <a:r>
              <a:rPr lang="en-US" sz="2800" b="1" dirty="0">
                <a:solidFill>
                  <a:srgbClr val="142341"/>
                </a:solidFill>
              </a:rPr>
              <a:t>MODULE 1 — INPUT &amp; MEMORY DATA PARSING</a:t>
            </a:r>
            <a:endParaRPr sz="2800" b="1" dirty="0">
              <a:solidFill>
                <a:srgbClr val="14234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2968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2000">
                <a:solidFill>
                  <a:srgbClr val="232830"/>
                </a:solidFill>
              </a:defRPr>
            </a:pPr>
            <a:r>
              <a:rPr dirty="0"/>
              <a:t>The main() function receives block and process data through </a:t>
            </a:r>
            <a:r>
              <a:rPr dirty="0" err="1"/>
              <a:t>argv</a:t>
            </a:r>
            <a:r>
              <a:rPr dirty="0"/>
              <a:t>[].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2000">
                <a:solidFill>
                  <a:srgbClr val="232830"/>
                </a:solidFill>
              </a:defRPr>
            </a:pPr>
            <a:r>
              <a:rPr dirty="0" err="1"/>
              <a:t>strtok</a:t>
            </a:r>
            <a:r>
              <a:rPr dirty="0"/>
              <a:t>() separates comma-delimited values into individual tokens.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2000">
                <a:solidFill>
                  <a:srgbClr val="232830"/>
                </a:solidFill>
              </a:defRPr>
            </a:pPr>
            <a:r>
              <a:rPr dirty="0" err="1"/>
              <a:t>atoi</a:t>
            </a:r>
            <a:r>
              <a:rPr dirty="0"/>
              <a:t>() converts each token from text into an integer.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2000">
                <a:solidFill>
                  <a:srgbClr val="232830"/>
                </a:solidFill>
              </a:defRPr>
            </a:pPr>
            <a:r>
              <a:rPr dirty="0"/>
              <a:t>Blocks are stored in blocks[50]; processes are stored in processes[50].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2000">
                <a:solidFill>
                  <a:srgbClr val="232830"/>
                </a:solidFill>
              </a:defRPr>
            </a:pPr>
            <a:r>
              <a:rPr dirty="0"/>
              <a:t>The counters m and n track the number of blocks and processes.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42654" y="1060752"/>
            <a:ext cx="3718865" cy="2968505"/>
          </a:xfrm>
          <a:prstGeom prst="roundRect">
            <a:avLst/>
          </a:prstGeom>
          <a:solidFill>
            <a:srgbClr val="1E222A"/>
          </a:solidFill>
          <a:ln>
            <a:solidFill>
              <a:srgbClr val="414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442655" y="1486366"/>
            <a:ext cx="4480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FFFFFF"/>
                </a:solidFill>
                <a:latin typeface="Consolas"/>
              </a:rPr>
              <a:t>char *token = 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strtok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argv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[1], ",");
while (token != NULL) {
    blocks[m++] = 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atoi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(token);
    token = 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strtok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(NULL, ",");
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11765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142341"/>
                </a:solidFill>
              </a:rPr>
              <a:t>MODULE 2 — FIRST-FIT MEMORY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669280" cy="4404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800">
                <a:solidFill>
                  <a:srgbClr val="232830"/>
                </a:solidFill>
              </a:defRPr>
            </a:pPr>
            <a:r>
              <a:rPr dirty="0"/>
              <a:t>Each process is checked against memory blocks from the first block onward.</a:t>
            </a:r>
          </a:p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800">
                <a:solidFill>
                  <a:srgbClr val="232830"/>
                </a:solidFill>
              </a:defRPr>
            </a:pPr>
            <a:r>
              <a:rPr dirty="0"/>
              <a:t>The first block whose remaining size is sufficient is selected.</a:t>
            </a:r>
          </a:p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800">
                <a:solidFill>
                  <a:srgbClr val="232830"/>
                </a:solidFill>
              </a:defRPr>
            </a:pPr>
            <a:r>
              <a:rPr dirty="0"/>
              <a:t>The allocated process size is subtracted from that block.</a:t>
            </a:r>
          </a:p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800">
                <a:solidFill>
                  <a:srgbClr val="232830"/>
                </a:solidFill>
              </a:defRPr>
            </a:pPr>
            <a:r>
              <a:rPr dirty="0"/>
              <a:t>The search stops immediately after the first suitable block is found.</a:t>
            </a:r>
          </a:p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800">
                <a:solidFill>
                  <a:srgbClr val="232830"/>
                </a:solidFill>
              </a:defRPr>
            </a:pPr>
            <a:r>
              <a:rPr dirty="0"/>
              <a:t>If no block is large enough, the process remains unallocated.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399" y="1234441"/>
            <a:ext cx="5306961" cy="3681688"/>
          </a:xfrm>
          <a:prstGeom prst="roundRect">
            <a:avLst/>
          </a:prstGeom>
          <a:solidFill>
            <a:srgbClr val="1E222A"/>
          </a:solidFill>
          <a:ln>
            <a:solidFill>
              <a:srgbClr val="414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0" y="2011680"/>
            <a:ext cx="4114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onsolas"/>
              </a:rPr>
              <a:t>if (blockSize[j] &gt;= processSize[i]) {
    allocation[i] = j;
    blockSize[j] -= processSize[i];
    break;
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55296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42341"/>
                </a:solidFill>
              </a:rPr>
              <a:t> </a:t>
            </a:r>
            <a:r>
              <a:rPr lang="en-IN" sz="2800" b="1" dirty="0">
                <a:solidFill>
                  <a:srgbClr val="142341"/>
                </a:solidFill>
              </a:rPr>
              <a:t>FIRST-FIT ALGORITHM</a:t>
            </a:r>
            <a:endParaRPr sz="2800" b="1" dirty="0">
              <a:solidFill>
                <a:srgbClr val="14234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40947" y="1453699"/>
            <a:ext cx="10698480" cy="331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800">
                <a:solidFill>
                  <a:srgbClr val="232830"/>
                </a:solidFill>
              </a:defRPr>
            </a:pPr>
            <a:r>
              <a:rPr dirty="0"/>
              <a:t>Step 1: Initialize allocation for every process to -1.</a:t>
            </a:r>
          </a:p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800">
                <a:solidFill>
                  <a:srgbClr val="232830"/>
                </a:solidFill>
              </a:defRPr>
            </a:pPr>
            <a:r>
              <a:rPr dirty="0"/>
              <a:t>Step 2: Select the next process.</a:t>
            </a:r>
          </a:p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800">
                <a:solidFill>
                  <a:srgbClr val="232830"/>
                </a:solidFill>
              </a:defRPr>
            </a:pPr>
            <a:r>
              <a:rPr dirty="0"/>
              <a:t>Step 3: Scan memory blocks from the beginning.</a:t>
            </a:r>
          </a:p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800">
                <a:solidFill>
                  <a:srgbClr val="232830"/>
                </a:solidFill>
              </a:defRPr>
            </a:pPr>
            <a:r>
              <a:rPr dirty="0"/>
              <a:t>Step 4: If block size ≥ process size, allocate the process there.</a:t>
            </a:r>
          </a:p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800">
                <a:solidFill>
                  <a:srgbClr val="232830"/>
                </a:solidFill>
              </a:defRPr>
            </a:pPr>
            <a:r>
              <a:rPr dirty="0"/>
              <a:t>Step 5: Reduce the selected block's remaining capacity.</a:t>
            </a:r>
          </a:p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800">
                <a:solidFill>
                  <a:srgbClr val="232830"/>
                </a:solidFill>
              </a:defRPr>
            </a:pPr>
            <a:r>
              <a:rPr dirty="0"/>
              <a:t>Step 6: Move to the next process; otherwise report Not Allocated after all blocks are checked.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4020"/>
            <a:ext cx="264117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rgbClr val="142341"/>
                </a:solidFill>
              </a:rPr>
              <a:t>KEY CODE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789920" cy="4846320"/>
          </a:xfrm>
          <a:prstGeom prst="roundRect">
            <a:avLst/>
          </a:prstGeom>
          <a:solidFill>
            <a:srgbClr val="1E222A"/>
          </a:solidFill>
          <a:ln>
            <a:solidFill>
              <a:srgbClr val="414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Consolas"/>
              </a:rPr>
              <a:t>void firstFit(int blockSize[], int m, int processSize[], int n) {
    int allocation[n];
    for (int i = 0; i &lt; n; i++)
        allocation[i] = -1;
    for (int i = 0; i &lt; n; i++) {
        for (int j = 0; j &lt; m; j++) {
            if (blockSize[j] &gt;= processSize[i]) {
                allocation[i] = j;
                blockSize[j] -= processSize[i];
                break;
            }
        }
    }
}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49985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42341"/>
                </a:solidFill>
              </a:rPr>
              <a:t> </a:t>
            </a:r>
            <a:r>
              <a:rPr lang="en-IN" sz="2800" b="1" dirty="0">
                <a:solidFill>
                  <a:srgbClr val="142341"/>
                </a:solidFill>
              </a:rPr>
              <a:t>SAMPLE INPUT</a:t>
            </a:r>
            <a:endParaRPr sz="2800" b="1" dirty="0">
              <a:solidFill>
                <a:srgbClr val="14234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14400" y="1508760"/>
            <a:ext cx="10241280" cy="2926080"/>
          </a:xfrm>
          <a:prstGeom prst="roundRect">
            <a:avLst/>
          </a:prstGeom>
          <a:solidFill>
            <a:srgbClr val="1E222A"/>
          </a:solidFill>
          <a:ln>
            <a:solidFill>
              <a:srgbClr val="414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1691639"/>
            <a:ext cx="9784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  <a:latin typeface="Consolas"/>
              </a:rPr>
              <a:t>Memory blocks:
100,500,200,300,600
Processes:
212,417,112,426
Command-line form:
memorysim.exe "100,500,200,300,600" "212,417,112,426"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</a:defRPr>
            </a:pPr>
            <a:r>
              <a:t>The simulator parses both comma-separated lists before starting allocation.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70406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rgbClr val="142341"/>
                </a:solidFill>
              </a:rPr>
              <a:t>SAMPLE OUTPUT &amp; INTERPRETATION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3017520"/>
          </a:xfrm>
          <a:prstGeom prst="roundRect">
            <a:avLst/>
          </a:prstGeom>
          <a:solidFill>
            <a:srgbClr val="1E222A"/>
          </a:solidFill>
          <a:ln>
            <a:solidFill>
              <a:srgbClr val="414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508760"/>
            <a:ext cx="10058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  <a:latin typeface="Consolas"/>
              </a:rPr>
              <a:t>=== MEMORY SIMULATION ===
Process No    Process Size    Block No
1             212             2
2             417             5
3             112             2
4             426             Not Allocated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32830"/>
                </a:solidFill>
              </a:defRPr>
            </a:pPr>
            <a:r>
              <a:t>Process 1 uses Block 2; its remaining capacity becomes 288.</a:t>
            </a:r>
          </a:p>
          <a:p>
            <a:pPr>
              <a:spcAft>
                <a:spcPts val="1200"/>
              </a:spcAft>
              <a:defRPr sz="1400">
                <a:solidFill>
                  <a:srgbClr val="232830"/>
                </a:solidFill>
              </a:defRPr>
            </a:pPr>
            <a:r>
              <a:t>Process 2 uses Block 5; its remaining capacity becomes 183.</a:t>
            </a:r>
          </a:p>
          <a:p>
            <a:pPr>
              <a:spcAft>
                <a:spcPts val="1200"/>
              </a:spcAft>
              <a:defRPr sz="1400">
                <a:solidFill>
                  <a:srgbClr val="232830"/>
                </a:solidFill>
              </a:defRPr>
            </a:pPr>
            <a:r>
              <a:t>Process 3 fits into the remaining space of Block 2; 176 remains.</a:t>
            </a:r>
          </a:p>
          <a:p>
            <a:pPr>
              <a:spcAft>
                <a:spcPts val="1200"/>
              </a:spcAft>
              <a:defRPr sz="1400">
                <a:solidFill>
                  <a:srgbClr val="232830"/>
                </a:solidFill>
              </a:defRPr>
            </a:pPr>
            <a:r>
              <a:t>Process 4 needs 426 units, so no remaining block can accommodate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52317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42341"/>
                </a:solidFill>
              </a:rPr>
              <a:t> </a:t>
            </a:r>
            <a:r>
              <a:rPr lang="en-US" sz="2800" b="1" dirty="0">
                <a:solidFill>
                  <a:srgbClr val="142341"/>
                </a:solidFill>
              </a:rPr>
              <a:t>OUTPUT</a:t>
            </a:r>
            <a:endParaRPr sz="2800" b="1" dirty="0">
              <a:solidFill>
                <a:srgbClr val="14234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13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DEAD20-11AB-FD5E-865C-2E50B1C37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78" y="973062"/>
            <a:ext cx="10853338" cy="525872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85EEB-C73A-B10B-8BEA-C23361FD5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FFA851-356C-3AFE-21CA-EAF4FBB177E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13D3FE-D863-7E6C-A283-E7A076C93EA0}"/>
              </a:ext>
            </a:extLst>
          </p:cNvPr>
          <p:cNvSpPr txBox="1"/>
          <p:nvPr/>
        </p:nvSpPr>
        <p:spPr>
          <a:xfrm>
            <a:off x="502920" y="274320"/>
            <a:ext cx="604806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42341"/>
                </a:solidFill>
              </a:rPr>
              <a:t> </a:t>
            </a:r>
            <a:r>
              <a:rPr lang="en-US" sz="2800" b="1" dirty="0">
                <a:solidFill>
                  <a:srgbClr val="142341"/>
                </a:solidFill>
              </a:rPr>
              <a:t>DATA FLOW &amp; MEMORY STATE UPDATE</a:t>
            </a:r>
            <a:endParaRPr sz="2800" b="1" dirty="0">
              <a:solidFill>
                <a:srgbClr val="14234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0FD80D-C3DD-E88A-21A4-542ABCEF40E3}"/>
              </a:ext>
            </a:extLst>
          </p:cNvPr>
          <p:cNvSpPr txBox="1"/>
          <p:nvPr/>
        </p:nvSpPr>
        <p:spPr>
          <a:xfrm>
            <a:off x="731520" y="1325880"/>
            <a:ext cx="10698480" cy="2742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800">
                <a:solidFill>
                  <a:srgbClr val="232830"/>
                </a:solidFill>
              </a:defRPr>
            </a:pPr>
            <a:r>
              <a:rPr dirty="0"/>
              <a:t>Input arrays represent the initial available memory and requested process sizes.</a:t>
            </a:r>
          </a:p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800">
                <a:solidFill>
                  <a:srgbClr val="232830"/>
                </a:solidFill>
              </a:defRPr>
            </a:pPr>
            <a:r>
              <a:rPr dirty="0"/>
              <a:t>During allocation, </a:t>
            </a:r>
            <a:r>
              <a:rPr dirty="0" err="1"/>
              <a:t>blockSize</a:t>
            </a:r>
            <a:r>
              <a:rPr dirty="0"/>
              <a:t>[] is modified in-place to store remaining capacity.</a:t>
            </a:r>
          </a:p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800">
                <a:solidFill>
                  <a:srgbClr val="232830"/>
                </a:solidFill>
              </a:defRPr>
            </a:pPr>
            <a:r>
              <a:rPr dirty="0"/>
              <a:t>allocation[] records the selected block index for each process.</a:t>
            </a:r>
          </a:p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800">
                <a:solidFill>
                  <a:srgbClr val="232830"/>
                </a:solidFill>
              </a:defRPr>
            </a:pPr>
            <a:r>
              <a:rPr dirty="0"/>
              <a:t>An allocation value of -1 means the process could not be allocated.</a:t>
            </a:r>
          </a:p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800">
                <a:solidFill>
                  <a:srgbClr val="232830"/>
                </a:solidFill>
              </a:defRPr>
            </a:pPr>
            <a:r>
              <a:rPr dirty="0"/>
              <a:t>The final table is generated from </a:t>
            </a:r>
            <a:r>
              <a:rPr dirty="0" err="1"/>
              <a:t>processSize</a:t>
            </a:r>
            <a:r>
              <a:rPr dirty="0"/>
              <a:t>[] and allocation[].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5759C8-09F1-C049-0C91-EE5831D5C9CF}"/>
              </a:ext>
            </a:extLst>
          </p:cNvPr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2B7050-A5A2-7631-9D3C-1E06A56AF955}"/>
              </a:ext>
            </a:extLst>
          </p:cNvPr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69899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04389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rgbClr val="142341"/>
                </a:solidFill>
              </a:rPr>
              <a:t>ADVANTAGES &amp; CURRENT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2E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2E8250"/>
                </a:solidFill>
              </a:defRPr>
            </a:pPr>
            <a:r>
              <a:t>Advantages</a:t>
            </a:r>
          </a:p>
          <a:p>
            <a:pPr>
              <a:spcAft>
                <a:spcPts val="900"/>
              </a:spcAft>
              <a:defRPr sz="1700" b="0">
                <a:solidFill>
                  <a:srgbClr val="232830"/>
                </a:solidFill>
              </a:defRPr>
            </a:pPr>
            <a:r>
              <a:t>Simple and easy-to-understand First-Fit logic</a:t>
            </a:r>
          </a:p>
          <a:p>
            <a:pPr>
              <a:spcAft>
                <a:spcPts val="900"/>
              </a:spcAft>
              <a:defRPr sz="1700" b="0">
                <a:solidFill>
                  <a:srgbClr val="232830"/>
                </a:solidFill>
              </a:defRPr>
            </a:pPr>
            <a:r>
              <a:t>Fast for small inputs</a:t>
            </a:r>
          </a:p>
          <a:p>
            <a:pPr>
              <a:spcAft>
                <a:spcPts val="900"/>
              </a:spcAft>
              <a:defRPr sz="1700" b="0">
                <a:solidFill>
                  <a:srgbClr val="232830"/>
                </a:solidFill>
              </a:defRPr>
            </a:pPr>
            <a:r>
              <a:t>Clear allocation table</a:t>
            </a:r>
          </a:p>
          <a:p>
            <a:pPr>
              <a:spcAft>
                <a:spcPts val="900"/>
              </a:spcAft>
              <a:defRPr sz="1700" b="0">
                <a:solidFill>
                  <a:srgbClr val="232830"/>
                </a:solidFill>
              </a:defRPr>
            </a:pPr>
            <a:r>
              <a:t>Uses standard C libraries</a:t>
            </a:r>
          </a:p>
          <a:p>
            <a:pPr>
              <a:spcAft>
                <a:spcPts val="900"/>
              </a:spcAft>
              <a:defRPr sz="1700" b="0">
                <a:solidFill>
                  <a:srgbClr val="232830"/>
                </a:solidFill>
              </a:defRPr>
            </a:pPr>
            <a:r>
              <a:t>Useful for OS/memory-management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2588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E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37960" y="1600200"/>
            <a:ext cx="47548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BE3C3C"/>
                </a:solidFill>
              </a:defRPr>
            </a:pPr>
            <a:r>
              <a:t>Current Limitations</a:t>
            </a:r>
          </a:p>
          <a:p>
            <a:pPr>
              <a:spcAft>
                <a:spcPts val="900"/>
              </a:spcAft>
              <a:defRPr sz="1700" b="0">
                <a:solidFill>
                  <a:srgbClr val="232830"/>
                </a:solidFill>
              </a:defRPr>
            </a:pPr>
            <a:r>
              <a:t>Only First-Fit is implemented</a:t>
            </a:r>
          </a:p>
          <a:p>
            <a:pPr>
              <a:spcAft>
                <a:spcPts val="900"/>
              </a:spcAft>
              <a:defRPr sz="1700" b="0">
                <a:solidFill>
                  <a:srgbClr val="232830"/>
                </a:solidFill>
              </a:defRPr>
            </a:pPr>
            <a:r>
              <a:t>Input validation is minimal</a:t>
            </a:r>
          </a:p>
          <a:p>
            <a:pPr>
              <a:spcAft>
                <a:spcPts val="900"/>
              </a:spcAft>
              <a:defRPr sz="1700" b="0">
                <a:solidFill>
                  <a:srgbClr val="232830"/>
                </a:solidFill>
              </a:defRPr>
            </a:pPr>
            <a:r>
              <a:t>Requires command-line arguments</a:t>
            </a:r>
          </a:p>
          <a:p>
            <a:pPr>
              <a:spcAft>
                <a:spcPts val="900"/>
              </a:spcAft>
              <a:defRPr sz="1700" b="0">
                <a:solidFill>
                  <a:srgbClr val="232830"/>
                </a:solidFill>
              </a:defRPr>
            </a:pPr>
            <a:r>
              <a:t>No graphical interface</a:t>
            </a:r>
          </a:p>
          <a:p>
            <a:pPr>
              <a:spcAft>
                <a:spcPts val="900"/>
              </a:spcAft>
              <a:defRPr sz="1700" b="0">
                <a:solidFill>
                  <a:srgbClr val="232830"/>
                </a:solidFill>
              </a:defRPr>
            </a:pPr>
            <a:r>
              <a:t>No internal comparison with Best-Fit / Worst-Fit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0670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42341"/>
                </a:solidFill>
              </a:rPr>
              <a:t> </a:t>
            </a:r>
            <a:r>
              <a:rPr lang="en-IN" sz="2800" b="1" dirty="0">
                <a:solidFill>
                  <a:srgbClr val="142341"/>
                </a:solidFill>
              </a:rPr>
              <a:t>FUTURE ENHANCEMENTS</a:t>
            </a:r>
            <a:endParaRPr sz="2800" b="1" dirty="0">
              <a:solidFill>
                <a:srgbClr val="14234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331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800">
                <a:solidFill>
                  <a:srgbClr val="232830"/>
                </a:solidFill>
              </a:defRPr>
            </a:pPr>
            <a:r>
              <a:rPr dirty="0"/>
              <a:t>Add Best-Fit and Worst-Fit allocation algorithms for comparison.</a:t>
            </a:r>
          </a:p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800">
                <a:solidFill>
                  <a:srgbClr val="232830"/>
                </a:solidFill>
              </a:defRPr>
            </a:pPr>
            <a:r>
              <a:rPr dirty="0"/>
              <a:t>Add a menu-driven interface instead of only command-line input.</a:t>
            </a:r>
          </a:p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800">
                <a:solidFill>
                  <a:srgbClr val="232830"/>
                </a:solidFill>
              </a:defRPr>
            </a:pPr>
            <a:r>
              <a:rPr dirty="0"/>
              <a:t>Add input validation and clearer error messages for missing or invalid arguments.</a:t>
            </a:r>
          </a:p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800">
                <a:solidFill>
                  <a:srgbClr val="232830"/>
                </a:solidFill>
              </a:defRPr>
            </a:pPr>
            <a:r>
              <a:rPr dirty="0"/>
              <a:t>Display memory blocks graphically before and after allocation.</a:t>
            </a:r>
          </a:p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800">
                <a:solidFill>
                  <a:srgbClr val="232830"/>
                </a:solidFill>
              </a:defRPr>
            </a:pPr>
            <a:r>
              <a:rPr dirty="0"/>
              <a:t>Add fragmentation analysis and allocation-efficiency statistics.</a:t>
            </a:r>
          </a:p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800">
                <a:solidFill>
                  <a:srgbClr val="232830"/>
                </a:solidFill>
              </a:defRPr>
            </a:pPr>
            <a:r>
              <a:rPr dirty="0"/>
              <a:t>Extend the simulator with deallocation and process termination.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6578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rgbClr val="142341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314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900">
                <a:solidFill>
                  <a:srgbClr val="232830"/>
                </a:solidFill>
              </a:defRPr>
            </a:pPr>
            <a:r>
              <a:rPr dirty="0"/>
              <a:t>The project successfully demonstrates dynamic memory allocation using the First-Fit strategy.</a:t>
            </a: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900">
                <a:solidFill>
                  <a:srgbClr val="232830"/>
                </a:solidFill>
              </a:defRPr>
            </a:pPr>
            <a:r>
              <a:rPr dirty="0"/>
              <a:t>The C program accepts block/process data, performs allocation, updates remaining block capacity, and reports the final status.</a:t>
            </a: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900">
                <a:solidFill>
                  <a:srgbClr val="232830"/>
                </a:solidFill>
              </a:defRPr>
            </a:pPr>
            <a:r>
              <a:rPr dirty="0"/>
              <a:t>The implementation gives a practical view of how allocation decisions affect available memory.</a:t>
            </a: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900">
                <a:solidFill>
                  <a:srgbClr val="232830"/>
                </a:solidFill>
              </a:defRPr>
            </a:pPr>
            <a:r>
              <a:rPr dirty="0"/>
              <a:t>The current version is intentionally compact and can be extended into a multi-algorithm memory-management simulator.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80760"/>
            <a:ext cx="21672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>
                <a:solidFill>
                  <a:srgbClr val="69707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3E46A4-3645-E1AE-E982-AD39B16AD9FB}"/>
              </a:ext>
            </a:extLst>
          </p:cNvPr>
          <p:cNvSpPr txBox="1"/>
          <p:nvPr/>
        </p:nvSpPr>
        <p:spPr>
          <a:xfrm>
            <a:off x="3048000" y="3169848"/>
            <a:ext cx="6096000" cy="1015663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  <a:reflection blurRad="6350" stA="50000" endA="300" endPos="55500" dist="50800" dir="5400000" sy="-100000" algn="bl" rotWithShape="0"/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/>
          <a:p>
            <a:pPr algn="ctr"/>
            <a:r>
              <a:rPr lang="en-IN" sz="6000" b="1" dirty="0">
                <a:solidFill>
                  <a:srgbClr val="2D69BE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84361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1059</Words>
  <Application>Microsoft Office PowerPoint</Application>
  <PresentationFormat>Widescreen</PresentationFormat>
  <Paragraphs>119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Nithesh Yoganantham</dc:creator>
  <cp:keywords/>
  <dc:description>generated using python-pptx</dc:description>
  <cp:lastModifiedBy>Nithesh Yoganantham</cp:lastModifiedBy>
  <cp:revision>4</cp:revision>
  <dcterms:created xsi:type="dcterms:W3CDTF">2013-01-27T09:14:16Z</dcterms:created>
  <dcterms:modified xsi:type="dcterms:W3CDTF">2026-09-02T14:43:45Z</dcterms:modified>
  <cp:category/>
</cp:coreProperties>
</file>